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39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7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11202E">
              <a:alpha val="6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7894015" y="0"/>
            <a:ext cx="822960" cy="6858000"/>
          </a:xfrm>
          <a:prstGeom prst="rect">
            <a:avLst/>
          </a:prstGeom>
          <a:solidFill>
            <a:srgbClr val="11202E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86868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4168" y="886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85800" y="182880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Detecting Vehicle</a:t>
            </a:r>
            <a:endParaRPr lang="en-US" sz="50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Insurance Fraud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685800" y="38862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few fraudulent claims hidden among thousands , and the model that catches them.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85800" y="5074920"/>
            <a:ext cx="1559052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685800" y="5074920"/>
            <a:ext cx="15590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15,420 claims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473452" y="5074920"/>
            <a:ext cx="1367028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2473452" y="5074920"/>
            <a:ext cx="13670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features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069080" y="5074920"/>
            <a:ext cx="175107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4069080" y="5074920"/>
            <a:ext cx="17510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tested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85800" y="5806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machine-learning investigation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Fraud is rare and that is exactly the problem.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5760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1202E"/>
                </a:solidFill>
              </a:rPr>
              <a:t>The business question
</a:t>
            </a:r>
            <a:endParaRPr lang="en-US" sz="1500" dirty="0"/>
          </a:p>
          <a:p>
            <a:pPr marL="0" indent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5C6B78"/>
                </a:solidFill>
              </a:rPr>
              <a:t>How can we reliably flag fraudulent insurance claims before they are paid out?
</a:t>
            </a:r>
            <a:endParaRPr lang="en-US" sz="1500" dirty="0"/>
          </a:p>
          <a:p>
            <a:pPr marL="0" indent="0">
              <a:lnSpc>
                <a:spcPts val="21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1202E"/>
                </a:solidFill>
              </a:rPr>
              <a:t>Why it matters
</a:t>
            </a:r>
            <a:endParaRPr lang="en-US" sz="15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B78"/>
                </a:solidFill>
              </a:rPr>
              <a:t>Fraudulent claims drain insurer profit and push premiums higher for honest customers. But genuine fraud is buried inside a flood of legitimate claims ,  so the model must spot a needle in a haystack without crying wolf on everyone else.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1554480"/>
            <a:ext cx="4114800" cy="41605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6092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IMBALANCE</a:t>
            </a:r>
            <a:endParaRPr lang="en-US" sz="1250" dirty="0"/>
          </a:p>
        </p:txBody>
      </p:sp>
      <p:pic>
        <p:nvPicPr>
          <p:cNvPr id="8" name="Image 0" descr="assets/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240280"/>
            <a:ext cx="246888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0" y="48920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 in 16 claims is fraudulent ,  accuracy alone will reward a model that simply says "not fraud" every time.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investigation unfolds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36285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713232" cy="713232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57860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05658" y="22585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05840" y="3154680"/>
            <a:ext cx="2722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3474720"/>
            <a:ext cx="27227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fraud, high stakes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14418" y="2057400"/>
            <a:ext cx="336285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734458" y="2377440"/>
            <a:ext cx="713232" cy="713232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626" y="257860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34277" y="22585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734458" y="3154680"/>
            <a:ext cx="2722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Data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734458" y="3474720"/>
            <a:ext cx="27227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15,420 claims, 33 clues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43037" y="2057400"/>
            <a:ext cx="336285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463077" y="2377440"/>
            <a:ext cx="713232" cy="713232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4245" y="257860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62895" y="225856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8463077" y="3154680"/>
            <a:ext cx="2722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Patterns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463077" y="3474720"/>
            <a:ext cx="27227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85800" y="4297680"/>
            <a:ext cx="336285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005840" y="4617720"/>
            <a:ext cx="713232" cy="713232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7008" y="4818888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905658" y="449884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1005840" y="5394960"/>
            <a:ext cx="2722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Pipeline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1005840" y="5715000"/>
            <a:ext cx="27227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balancing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414418" y="4297680"/>
            <a:ext cx="336285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4734458" y="4617720"/>
            <a:ext cx="713232" cy="713232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5626" y="4818888"/>
            <a:ext cx="310896" cy="3108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634277" y="449884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33" name="Text 26"/>
          <p:cNvSpPr/>
          <p:nvPr/>
        </p:nvSpPr>
        <p:spPr>
          <a:xfrm>
            <a:off x="4734458" y="5394960"/>
            <a:ext cx="2722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Models</a:t>
            </a:r>
            <a:endParaRPr lang="en-US" sz="1700" dirty="0"/>
          </a:p>
        </p:txBody>
      </p:sp>
      <p:sp>
        <p:nvSpPr>
          <p:cNvPr id="34" name="Text 27"/>
          <p:cNvSpPr/>
          <p:nvPr/>
        </p:nvSpPr>
        <p:spPr>
          <a:xfrm>
            <a:off x="4734458" y="5715000"/>
            <a:ext cx="27227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contenders compared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43037" y="4297680"/>
            <a:ext cx="336285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8463077" y="4617720"/>
            <a:ext cx="713232" cy="713232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4245" y="4818888"/>
            <a:ext cx="310896" cy="31089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362895" y="4498848"/>
            <a:ext cx="960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000" dirty="0"/>
          </a:p>
        </p:txBody>
      </p:sp>
      <p:sp>
        <p:nvSpPr>
          <p:cNvPr id="39" name="Text 31"/>
          <p:cNvSpPr/>
          <p:nvPr/>
        </p:nvSpPr>
        <p:spPr>
          <a:xfrm>
            <a:off x="8463077" y="5394960"/>
            <a:ext cx="2722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Verdict</a:t>
            </a:r>
            <a:endParaRPr lang="en-US" sz="1700" dirty="0"/>
          </a:p>
        </p:txBody>
      </p:sp>
      <p:sp>
        <p:nvSpPr>
          <p:cNvPr id="40" name="Text 32"/>
          <p:cNvSpPr/>
          <p:nvPr/>
        </p:nvSpPr>
        <p:spPr>
          <a:xfrm>
            <a:off x="8463077" y="5715000"/>
            <a:ext cx="27227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&amp; actions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a good fraud model has to do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30189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51560" y="2606040"/>
            <a:ext cx="868680" cy="86868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28620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657600"/>
            <a:ext cx="2570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 &amp; compare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4160520"/>
            <a:ext cx="25703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multiple predictive models to classify claims as fraud or legitimate.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44898" y="2194560"/>
            <a:ext cx="330189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810658" y="2606040"/>
            <a:ext cx="868680" cy="86868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690" y="28620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10658" y="3657600"/>
            <a:ext cx="2570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 &amp; boost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810658" y="4160520"/>
            <a:ext cx="25703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performance through careful preprocessing and feature engineering.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03997" y="2194560"/>
            <a:ext cx="330189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569757" y="2606040"/>
            <a:ext cx="868680" cy="86868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789" y="286207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69757" y="3657600"/>
            <a:ext cx="25703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Measure what matters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69757" y="4160520"/>
            <a:ext cx="25703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classification metrics ,  prioritising recall over raw accuracy.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15,420 claims, 33 clues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3070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042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761488"/>
            <a:ext cx="1973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15,420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60120" y="3346704"/>
            <a:ext cx="1882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records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82264" y="2011680"/>
            <a:ext cx="243070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6584" y="230428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56584" y="2761488"/>
            <a:ext cx="1973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33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3756584" y="3346704"/>
            <a:ext cx="1882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claim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78728" y="2011680"/>
            <a:ext cx="243070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48" y="230428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53048" y="2761488"/>
            <a:ext cx="1973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6553048" y="3346704"/>
            <a:ext cx="1882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target: fraud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075191" y="2011680"/>
            <a:ext cx="2430704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9511" y="230428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349511" y="2761488"/>
            <a:ext cx="1973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645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~6%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9349511" y="3346704"/>
            <a:ext cx="18820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actually fraud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5800" y="4069080"/>
            <a:ext cx="10820095" cy="1828800"/>
          </a:xfrm>
          <a:prstGeom prst="roundRect">
            <a:avLst>
              <a:gd name="adj" fmla="val 5000"/>
            </a:avLst>
          </a:prstGeom>
          <a:solidFill>
            <a:srgbClr val="11202E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1143000" y="4297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CLAIM CARRIES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43000" y="4709160"/>
            <a:ext cx="990569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Behaviour &amp; context:  </a:t>
            </a:r>
            <a:r>
              <a:rPr lang="en-US" sz="1400" dirty="0">
                <a:solidFill>
                  <a:srgbClr val="9DB0BF"/>
                </a:solidFill>
              </a:rPr>
              <a:t>fault, accident area, witness &amp; police report, address change   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Vehicle &amp; policy:  </a:t>
            </a:r>
            <a:r>
              <a:rPr lang="en-US" sz="1400" dirty="0">
                <a:solidFill>
                  <a:srgbClr val="9DB0BF"/>
                </a:solidFill>
              </a:rPr>
              <a:t>make, vehicle category, price, age, base policy, policy type   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Timing &amp; demographics:  </a:t>
            </a:r>
            <a:r>
              <a:rPr lang="en-US" sz="1400" dirty="0">
                <a:solidFill>
                  <a:srgbClr val="9DB0BF"/>
                </a:solidFill>
              </a:rPr>
              <a:t>month, day of week, age of policyholder, marital status, driver rating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Letting the data tell its story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modelling, every feature was profiled on its own and against the fraud label ,  turning 33 raw columns into a shortlist of genuine warning signs.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306324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0120" y="3319272"/>
            <a:ext cx="585216" cy="585216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346557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32644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Univariate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37360" y="357530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each feature on its own ,  spotting skew, dominant categories and outliers.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429768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960120" y="4553712"/>
            <a:ext cx="585216" cy="585216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470001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44988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Bivariate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737360" y="480974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crossed with the fraud label ,  surfacing categories where fraud over-indexes.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812280" y="1783080"/>
            <a:ext cx="4693615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812280" y="1993392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kern="0" spc="15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CLAIMS ,  FRAUD vs NOT FRAUD</a:t>
            </a:r>
            <a:endParaRPr lang="en-US" sz="1150" dirty="0"/>
          </a:p>
        </p:txBody>
      </p:sp>
      <p:pic>
        <p:nvPicPr>
          <p:cNvPr id="18" name="Image 2" descr="assets/eda_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496943"/>
            <a:ext cx="4236415" cy="24584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5166360"/>
            <a:ext cx="3962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claims cluster in particular age bands rather than spreading evenly across all claimants.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BEHAVIOURAL RED FLAGS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biggest tells are about what's missing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36285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33628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1100" dirty="0"/>
          </a:p>
        </p:txBody>
      </p:sp>
      <p:pic>
        <p:nvPicPr>
          <p:cNvPr id="7" name="Image 0" descr="assets/eda_fa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574572"/>
            <a:ext cx="3033674" cy="204718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14418" y="1874520"/>
            <a:ext cx="336285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414418" y="2039112"/>
            <a:ext cx="33628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 PRESENT</a:t>
            </a:r>
            <a:endParaRPr lang="en-US" sz="1100" dirty="0"/>
          </a:p>
        </p:txBody>
      </p:sp>
      <p:pic>
        <p:nvPicPr>
          <p:cNvPr id="10" name="Image 1" descr="assets/eda_wit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9010" y="2722982"/>
            <a:ext cx="3033674" cy="175036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43037" y="1874520"/>
            <a:ext cx="336285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143037" y="2039112"/>
            <a:ext cx="33628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ADDRESS CHANGE</a:t>
            </a:r>
            <a:endParaRPr lang="en-US" sz="1100" dirty="0"/>
          </a:p>
        </p:txBody>
      </p:sp>
      <p:pic>
        <p:nvPicPr>
          <p:cNvPr id="13" name="Image 2" descr="assets/eda_addr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629" y="2574572"/>
            <a:ext cx="3033674" cy="204718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85800" y="5257800"/>
            <a:ext cx="10820095" cy="1051560"/>
          </a:xfrm>
          <a:prstGeom prst="roundRect">
            <a:avLst>
              <a:gd name="adj" fmla="val 8696"/>
            </a:avLst>
          </a:prstGeom>
          <a:solidFill>
            <a:srgbClr val="11202E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051560" y="549097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563727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828800" y="5394960"/>
            <a:ext cx="92656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   </a:t>
            </a:r>
            <a:r>
              <a:rPr lang="en-US" sz="1400" dirty="0">
                <a:solidFill>
                  <a:srgbClr val="E6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where the policyholder is at fault, where no witness was present, and where the address changed recently all skew sharply toward fraud ,  absence of corroboration is the strongest signal in the data.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VEHICLE &amp; POLICY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vehicle itself carries a signal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2716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522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CATEGORY</a:t>
            </a:r>
            <a:endParaRPr lang="en-US" sz="1100" dirty="0"/>
          </a:p>
        </p:txBody>
      </p:sp>
      <p:pic>
        <p:nvPicPr>
          <p:cNvPr id="7" name="Image 0" descr="assets/eda_vehc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173" y="2423160"/>
            <a:ext cx="3482421" cy="23500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8728" y="1874520"/>
            <a:ext cx="522716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278728" y="2039112"/>
            <a:ext cx="522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VEHICLE</a:t>
            </a:r>
            <a:endParaRPr lang="en-US" sz="1100" dirty="0"/>
          </a:p>
        </p:txBody>
      </p:sp>
      <p:pic>
        <p:nvPicPr>
          <p:cNvPr id="10" name="Image 1" descr="assets/eda_veh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101" y="2423160"/>
            <a:ext cx="3482421" cy="23500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85800" y="5257800"/>
            <a:ext cx="10820095" cy="1051560"/>
          </a:xfrm>
          <a:prstGeom prst="roundRect">
            <a:avLst>
              <a:gd name="adj" fmla="val 8696"/>
            </a:avLst>
          </a:prstGeom>
          <a:solidFill>
            <a:srgbClr val="11202E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1051560" y="549097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563727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5394960"/>
            <a:ext cx="92656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   </a:t>
            </a:r>
            <a:r>
              <a:rPr lang="en-US" sz="1400" dirty="0">
                <a:solidFill>
                  <a:srgbClr val="E6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vehicle categories (such as utility vehicles) and particular vehicle ages show elevated fraud rates, making make-and-model context useful predictive fuel.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TIMING &amp; INDEPENDENCE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Fraud has a calendar and no shortcuts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2716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039112"/>
            <a:ext cx="522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MONTH &amp; WEEKDAY</a:t>
            </a:r>
            <a:endParaRPr lang="en-US" sz="1100" dirty="0"/>
          </a:p>
        </p:txBody>
      </p:sp>
      <p:pic>
        <p:nvPicPr>
          <p:cNvPr id="7" name="Image 0" descr="assets/eda_timeh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556" y="2423160"/>
            <a:ext cx="3991656" cy="23500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8728" y="1874520"/>
            <a:ext cx="5227168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278728" y="2039112"/>
            <a:ext cx="522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NUMERIC FEATURES</a:t>
            </a:r>
            <a:endParaRPr lang="en-US" sz="1100" dirty="0"/>
          </a:p>
        </p:txBody>
      </p:sp>
      <p:pic>
        <p:nvPicPr>
          <p:cNvPr id="10" name="Image 1" descr="assets/eda_co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611" y="2423160"/>
            <a:ext cx="3087401" cy="23500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85800" y="5257800"/>
            <a:ext cx="10820095" cy="1051560"/>
          </a:xfrm>
          <a:prstGeom prst="roundRect">
            <a:avLst>
              <a:gd name="adj" fmla="val 8696"/>
            </a:avLst>
          </a:prstGeom>
          <a:solidFill>
            <a:srgbClr val="11202E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1051560" y="549097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563727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5394960"/>
            <a:ext cx="92656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us   </a:t>
            </a:r>
            <a:r>
              <a:rPr lang="en-US" sz="1400" dirty="0">
                <a:solidFill>
                  <a:srgbClr val="E6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concentrates in specific month-and-weekday pockets, while numeric features stay weakly correlated ,  so there is no multicollinearity to remove and every feature earns its place.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raw claims to model-ready data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46499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41832" y="2221992"/>
            <a:ext cx="548640" cy="54864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3591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10714" y="2130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41832" y="2834640"/>
            <a:ext cx="20077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41832" y="3127248"/>
            <a:ext cx="20535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redundant &amp; high-cardinality columns (Make, PolicyNumber, raw dates).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70834" y="1965960"/>
            <a:ext cx="246499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726866" y="2221992"/>
            <a:ext cx="548640" cy="54864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026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95748" y="2130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3726866" y="2834640"/>
            <a:ext cx="20077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Sort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726866" y="3127248"/>
            <a:ext cx="20535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features into numeric and categorical groups.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55868" y="1965960"/>
            <a:ext cx="246499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511900" y="2221992"/>
            <a:ext cx="548640" cy="54864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9060" y="23591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80781" y="2130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511900" y="2834640"/>
            <a:ext cx="20077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Encode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11900" y="3127248"/>
            <a:ext cx="20535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categories; convert booleans to 1/0.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40901" y="1965960"/>
            <a:ext cx="246499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9296933" y="2221992"/>
            <a:ext cx="548640" cy="54864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4093" y="235915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865815" y="2130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9296933" y="2834640"/>
            <a:ext cx="20077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296933" y="3127248"/>
            <a:ext cx="20535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mapped temporal &amp; grouped features for signal.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85800" y="3931920"/>
            <a:ext cx="246499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941832" y="4187952"/>
            <a:ext cx="548640" cy="54864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" y="432511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510714" y="4096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26"/>
          <p:cNvSpPr/>
          <p:nvPr/>
        </p:nvSpPr>
        <p:spPr>
          <a:xfrm>
            <a:off x="941832" y="4800600"/>
            <a:ext cx="20077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De-noise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941832" y="5093208"/>
            <a:ext cx="20535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extreme outliers with the IQR method.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3470834" y="3931920"/>
            <a:ext cx="246499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3726866" y="4187952"/>
            <a:ext cx="548640" cy="54864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4026" y="4325112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295748" y="4096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1"/>
          <p:cNvSpPr/>
          <p:nvPr/>
        </p:nvSpPr>
        <p:spPr>
          <a:xfrm>
            <a:off x="3726866" y="4800600"/>
            <a:ext cx="20077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Scale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3726866" y="5093208"/>
            <a:ext cx="20535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numeric features to zero mean, unit variance.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6255868" y="3931920"/>
            <a:ext cx="246499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4"/>
          <p:cNvSpPr/>
          <p:nvPr/>
        </p:nvSpPr>
        <p:spPr>
          <a:xfrm>
            <a:off x="6511900" y="4187952"/>
            <a:ext cx="548640" cy="54864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9060" y="4325112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080781" y="4096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200" dirty="0"/>
          </a:p>
        </p:txBody>
      </p:sp>
      <p:sp>
        <p:nvSpPr>
          <p:cNvPr id="45" name="Text 36"/>
          <p:cNvSpPr/>
          <p:nvPr/>
        </p:nvSpPr>
        <p:spPr>
          <a:xfrm>
            <a:off x="6511900" y="4800600"/>
            <a:ext cx="20077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Split</a:t>
            </a:r>
            <a:endParaRPr lang="en-US" sz="1500" dirty="0"/>
          </a:p>
        </p:txBody>
      </p:sp>
      <p:sp>
        <p:nvSpPr>
          <p:cNvPr id="46" name="Text 37"/>
          <p:cNvSpPr/>
          <p:nvPr/>
        </p:nvSpPr>
        <p:spPr>
          <a:xfrm>
            <a:off x="6511900" y="5093208"/>
            <a:ext cx="20535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train–test split, stratified to keep the 6% ratio.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9040901" y="3931920"/>
            <a:ext cx="246499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39"/>
          <p:cNvSpPr/>
          <p:nvPr/>
        </p:nvSpPr>
        <p:spPr>
          <a:xfrm>
            <a:off x="9296933" y="4187952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4093" y="4325112"/>
            <a:ext cx="274320" cy="27432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10865815" y="40965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6EB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200" dirty="0"/>
          </a:p>
        </p:txBody>
      </p:sp>
      <p:sp>
        <p:nvSpPr>
          <p:cNvPr id="51" name="Text 41"/>
          <p:cNvSpPr/>
          <p:nvPr/>
        </p:nvSpPr>
        <p:spPr>
          <a:xfrm>
            <a:off x="9296933" y="4800600"/>
            <a:ext cx="20077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Balance</a:t>
            </a:r>
            <a:endParaRPr lang="en-US" sz="1500" dirty="0"/>
          </a:p>
        </p:txBody>
      </p:sp>
      <p:sp>
        <p:nvSpPr>
          <p:cNvPr id="52" name="Text 42"/>
          <p:cNvSpPr/>
          <p:nvPr/>
        </p:nvSpPr>
        <p:spPr>
          <a:xfrm>
            <a:off x="9296933" y="5093208"/>
            <a:ext cx="20535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Up-sample the fraud class ,  training set only.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745236" y="5829300"/>
            <a:ext cx="10820095" cy="685800"/>
          </a:xfrm>
          <a:prstGeom prst="roundRect">
            <a:avLst>
              <a:gd name="adj" fmla="val 13333"/>
            </a:avLst>
          </a:prstGeom>
          <a:solidFill>
            <a:srgbClr val="11202E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Shape 44"/>
          <p:cNvSpPr/>
          <p:nvPr/>
        </p:nvSpPr>
        <p:spPr>
          <a:xfrm>
            <a:off x="1038536" y="5900443"/>
            <a:ext cx="548640" cy="5760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5696" y="6041898"/>
            <a:ext cx="274320" cy="274320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1783080" y="5788152"/>
            <a:ext cx="93570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leakage.  </a:t>
            </a:r>
            <a:r>
              <a:rPr lang="en-US" sz="1350" dirty="0">
                <a:solidFill>
                  <a:srgbClr val="E6E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happens after the split and only on the training set ,  the test set keeps its real-world 6% fraud rate, so every score reflects performance on truly unseen claims.</a:t>
            </a:r>
            <a:endParaRPr lang="en-US" sz="1400" dirty="0"/>
          </a:p>
        </p:txBody>
      </p:sp>
      <p:sp>
        <p:nvSpPr>
          <p:cNvPr id="57" name="Text 46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models, one hard tradeoff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78"/>
                </a:solidFill>
              </a:rPr>
              <a:t>Because fraud is so rare, </a:t>
            </a:r>
            <a:r>
              <a:rPr lang="en-US" sz="1500" b="1" dirty="0">
                <a:solidFill>
                  <a:srgbClr val="D64550"/>
                </a:solidFill>
              </a:rPr>
              <a:t>accuracy lies</a:t>
            </a:r>
            <a:r>
              <a:rPr lang="en-US" sz="1500" dirty="0">
                <a:solidFill>
                  <a:srgbClr val="5C6B78"/>
                </a:solidFill>
              </a:rPr>
              <a:t>. A model can score 94% just by calling everything legitimate.
</a:t>
            </a:r>
            <a:endParaRPr lang="en-US" sz="1500" dirty="0"/>
          </a:p>
          <a:p>
            <a:pPr marL="0" indent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1202E"/>
                </a:solidFill>
              </a:rPr>
              <a:t>The real contest is between two metrics:
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24612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" y="3493008"/>
            <a:ext cx="512064" cy="512064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6210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3429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Recall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45920" y="37398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real fraud, how much did we catch? Misses are expensive.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85800" y="438912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941832" y="4636008"/>
            <a:ext cx="512064" cy="512064"/>
          </a:xfrm>
          <a:prstGeom prst="ellipse">
            <a:avLst/>
          </a:prstGeom>
          <a:solidFill>
            <a:srgbClr val="E9EE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76402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4572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645920" y="488289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everything we flagged, how much was truly fraud? False alarms cost investigators.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0" y="1783080"/>
            <a:ext cx="5105095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400800" y="1965960"/>
            <a:ext cx="5105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DOESN'T BUY RECALL</a:t>
            </a:r>
            <a:endParaRPr lang="en-US" sz="1200" dirty="0"/>
          </a:p>
        </p:txBody>
      </p:sp>
      <p:pic>
        <p:nvPicPr>
          <p:cNvPr id="18" name="Image 2" descr="assets/trade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446706"/>
            <a:ext cx="4556455" cy="32447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five models stack up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67665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PRECISION  →  FRAUD RECALL</a:t>
            </a:r>
            <a:endParaRPr lang="en-US" sz="1200" dirty="0"/>
          </a:p>
        </p:txBody>
      </p:sp>
      <p:pic>
        <p:nvPicPr>
          <p:cNvPr id="7" name="Image 0" descr="assets/model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05019"/>
            <a:ext cx="6309360" cy="3173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18120" y="1828800"/>
            <a:ext cx="3687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(%)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2194560"/>
          <a:ext cx="3687775" cy="2852928"/>
        </p:xfrm>
        <a:graphic>
          <a:graphicData uri="http://schemas.openxmlformats.org/drawingml/2006/table">
            <a:tbl>
              <a:tblPr/>
              <a:tblGrid>
                <a:gridCol w="1767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8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 Ens.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8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8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8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C985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751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818120" y="5074920"/>
            <a:ext cx="3687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1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clear.  </a:t>
            </a: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reaches high recall except Random Forest, which trades recall for the best balance (F1) and far higher accuracy. Precision stays low across the board ,  the cost of catching rare fraud.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models, two jobs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wins outright ,  so pair them. One nets nearly all fraud up front; the other explains the final call.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5181448" cy="3657600"/>
          </a:xfrm>
          <a:prstGeom prst="roundRect">
            <a:avLst>
              <a:gd name="adj" fmla="val 2500"/>
            </a:avLst>
          </a:prstGeom>
          <a:solidFill>
            <a:srgbClr val="11202E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269748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290779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743200"/>
            <a:ext cx="3535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SCREEN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057400" y="2999232"/>
            <a:ext cx="3535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Neural Network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7280" y="3749040"/>
            <a:ext cx="13309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95%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1097280" y="4279392"/>
            <a:ext cx="1330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611069" y="3749040"/>
            <a:ext cx="13309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2611069" y="4279392"/>
            <a:ext cx="1330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24858" y="3749040"/>
            <a:ext cx="13309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124858" y="4279392"/>
            <a:ext cx="1330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97280" y="4800600"/>
            <a:ext cx="4358488" cy="0"/>
          </a:xfrm>
          <a:prstGeom prst="line">
            <a:avLst/>
          </a:prstGeom>
          <a:noFill/>
          <a:ln w="12700">
            <a:solidFill>
              <a:srgbClr val="3751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097280" y="498348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almost every fraudulent claim. Deploy as the first filter, then route flags to a human reviewer to manage false positives.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324448" y="2286000"/>
            <a:ext cx="518144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735928" y="2697480"/>
            <a:ext cx="777240" cy="777240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240" y="2907792"/>
            <a:ext cx="356616" cy="3566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96048" y="2743200"/>
            <a:ext cx="3535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&amp; AUDIT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7696048" y="2999232"/>
            <a:ext cx="3535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6735928" y="3749040"/>
            <a:ext cx="13309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6455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73%</a:t>
            </a:r>
            <a:endParaRPr lang="en-US" sz="2800" dirty="0"/>
          </a:p>
        </p:txBody>
      </p:sp>
      <p:sp>
        <p:nvSpPr>
          <p:cNvPr id="25" name="Text 21"/>
          <p:cNvSpPr/>
          <p:nvPr/>
        </p:nvSpPr>
        <p:spPr>
          <a:xfrm>
            <a:off x="6735928" y="4279392"/>
            <a:ext cx="1330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8249717" y="3749040"/>
            <a:ext cx="13309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21%</a:t>
            </a:r>
            <a:endParaRPr lang="en-US" sz="2800" dirty="0"/>
          </a:p>
        </p:txBody>
      </p:sp>
      <p:sp>
        <p:nvSpPr>
          <p:cNvPr id="27" name="Text 23"/>
          <p:cNvSpPr/>
          <p:nvPr/>
        </p:nvSpPr>
        <p:spPr>
          <a:xfrm>
            <a:off x="8249717" y="4279392"/>
            <a:ext cx="1330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9763506" y="3749040"/>
            <a:ext cx="133090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62%</a:t>
            </a:r>
            <a:endParaRPr lang="en-US" sz="2800" dirty="0"/>
          </a:p>
        </p:txBody>
      </p:sp>
      <p:sp>
        <p:nvSpPr>
          <p:cNvPr id="29" name="Text 25"/>
          <p:cNvSpPr/>
          <p:nvPr/>
        </p:nvSpPr>
        <p:spPr>
          <a:xfrm>
            <a:off x="9763506" y="4279392"/>
            <a:ext cx="13309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735928" y="4800600"/>
            <a:ext cx="4358488" cy="0"/>
          </a:xfrm>
          <a:prstGeom prst="line">
            <a:avLst/>
          </a:prstGeom>
          <a:noFill/>
          <a:ln w="12700">
            <a:solidFill>
              <a:srgbClr val="DCE3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6735928" y="4983480"/>
            <a:ext cx="435848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balanced, interpretable model. Use it for final decisions where explainability matters ,  audits, appeals and legal challenges.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Turning the model into a fraud strategy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0120" y="2322576"/>
            <a:ext cx="585216" cy="585216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4688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212848"/>
            <a:ext cx="394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Screen early with high recall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737360" y="2578608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neural network upfront to catch fraud before any payout.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3511296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960120" y="3822192"/>
            <a:ext cx="585216" cy="585216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39684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3712464"/>
            <a:ext cx="394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Decide with interpretable models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737360" y="4078224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Random Forest where you must justify a decision in audits or court.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5800" y="5010912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960120" y="5321808"/>
            <a:ext cx="585216" cy="585216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546811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5212080"/>
            <a:ext cx="394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Keep a human in the loop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737360" y="5577840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low-precision flags to investigators to filter out false alarms.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78728" y="2011680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553048" y="2322576"/>
            <a:ext cx="585216" cy="585216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352" y="24688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30288" y="2212848"/>
            <a:ext cx="394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 &amp; retrain over time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330288" y="2578608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models regularly as fraud tactics evolve to avoid drift.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278728" y="3511296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6553048" y="3822192"/>
            <a:ext cx="585216" cy="585216"/>
          </a:xfrm>
          <a:prstGeom prst="ellipse">
            <a:avLst/>
          </a:prstGeom>
          <a:solidFill>
            <a:srgbClr val="1120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9352" y="396849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30288" y="3712464"/>
            <a:ext cx="394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Codify the data's red flags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7330288" y="4078224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Hard-rule the strongest signals: no police report, recent address change, repeat claims.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278728" y="5010912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11202E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6553048" y="5321808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9352" y="5468112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330288" y="5212080"/>
            <a:ext cx="3947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Then keep improving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7330288" y="5577840"/>
            <a:ext cx="3992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thresholds, add fraud-focused features and explainability ,  see next slide.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807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5256" y="521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8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255"/>
              </a:lnSpc>
              <a:buNone/>
            </a:pPr>
            <a:r>
              <a:rPr lang="en-US" sz="310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this model goes next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33628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3500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8408" y="2898648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Tune the threshold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78408" y="3227832"/>
            <a:ext cx="2859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cutoff by the business cost of a missed fraud vs a false alarm.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4418" y="2057400"/>
            <a:ext cx="33628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026" y="23500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7026" y="2898648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Engineer fraud features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707026" y="3227832"/>
            <a:ext cx="2859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Claim-to-premium ratio, recent address change, prior-claim counts.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43037" y="2057400"/>
            <a:ext cx="33628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645" y="235000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35645" y="2898648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Segment fraud profiles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435645" y="3227832"/>
            <a:ext cx="2859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new vs long-time customers and low vs high-premium vehicles separately.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85800" y="4206240"/>
            <a:ext cx="33628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449884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8408" y="5047488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Score with anomalies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978408" y="5376672"/>
            <a:ext cx="2859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autoencoder reconstruction error to rank how abnormal a claim is.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414418" y="4206240"/>
            <a:ext cx="33628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026" y="4498848"/>
            <a:ext cx="420624" cy="4206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07026" y="5047488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Retrain on fresh claims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4707026" y="5376672"/>
            <a:ext cx="2859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continuously as fraud tactics shift over time.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43037" y="4206240"/>
            <a:ext cx="336285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blurRad="114300" dist="38100" dir="5400000" algn="bl" rotWithShape="0">
              <a:srgbClr val="8895A3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645" y="4498848"/>
            <a:ext cx="420624" cy="4206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35645" y="5047488"/>
            <a:ext cx="28142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20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Explain every flag</a:t>
            </a:r>
            <a:endParaRPr lang="en-US" sz="1550" dirty="0"/>
          </a:p>
        </p:txBody>
      </p:sp>
      <p:sp>
        <p:nvSpPr>
          <p:cNvPr id="28" name="Text 20"/>
          <p:cNvSpPr/>
          <p:nvPr/>
        </p:nvSpPr>
        <p:spPr>
          <a:xfrm>
            <a:off x="8435645" y="5376672"/>
            <a:ext cx="2859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/ LIME so investigators can justify a decision.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858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Insurance Fraud Detection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95725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68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84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9032" y="8961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182880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Catching fraud is a recall game , 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 the data already holds the tells.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85800" y="37033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red flags surface the fraud; a high-recall screen catches it; an interpretable model defends the decision. The result is a fraud pipeline that protects honest customers without overwhelming investigators.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5074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95%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85800" y="5715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recall, top model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06240" y="5074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~6%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206240" y="5715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fraud rate held in test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26680" y="50749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726680" y="5715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 head-to-head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91095" y="6309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D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1353</Words>
  <Application>Microsoft Office PowerPoint</Application>
  <PresentationFormat>Widescreen</PresentationFormat>
  <Paragraphs>252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Insurance Fraud Detection</dc:title>
  <dc:subject>PptxGenJS Presentation</dc:subject>
  <dc:creator>Data Storytelling</dc:creator>
  <cp:lastModifiedBy>Akanksha Jondhale</cp:lastModifiedBy>
  <cp:revision>3</cp:revision>
  <dcterms:created xsi:type="dcterms:W3CDTF">2026-06-26T01:14:54Z</dcterms:created>
  <dcterms:modified xsi:type="dcterms:W3CDTF">2026-06-26T01:21:39Z</dcterms:modified>
</cp:coreProperties>
</file>